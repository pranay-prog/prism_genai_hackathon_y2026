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Plus Jakarta Sans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6b3835e2-6613-4f60-9d01-f4547fba4ab5.fntdata" /><ns0:Relationship Id="rIdFont20" Type="http://schemas.openxmlformats.org/officeDocument/2006/relationships/font" Target="fonts/1f3a210b-9a0f-4aa5-a326-3839f03dcccc.fntdata" /><ns0:Relationship Id="rIdFont21" Type="http://schemas.openxmlformats.org/officeDocument/2006/relationships/font" Target="fonts/1a689041-b217-4f38-bb32-b4e5b054dfb5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2450" y="4629150"/>
            <a:ext cx="110871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2450" y="1901279"/>
            <a:ext cx="2171700" cy="28575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52450" y="419100"/>
            <a:ext cx="1343025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8675" y="4848225"/>
            <a:ext cx="294188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61060" y="4848225"/>
            <a:ext cx="2941885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93446" y="4848225"/>
            <a:ext cx="4269878" cy="542925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8675" y="5543550"/>
            <a:ext cx="338450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03675" y="5543550"/>
            <a:ext cx="3384500" cy="67627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78675" y="5619750"/>
            <a:ext cx="33845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212" y="481012"/>
            <a:ext cx="1524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1982241"/>
            <a:ext cx="10477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2450" y="2320379"/>
            <a:ext cx="9901237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0F172A"/>
                </a:solidFill>
                <a:latin typeface="Plus Jakarta Sans"/>
              </a:rPr>
              <a:t>Adaptive Streaming RAG for Live Service Conversations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3461295"/>
            <a:ext cx="116395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 domain-agnostic retrieval orchestration engine demonstrated through Telecom / Internet Service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76250"/>
            <a:ext cx="1209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SAMSUNG PRISM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9775" y="461962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Generative AI Hackathon • 3rd Edition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9812" y="471487"/>
            <a:ext cx="213717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RAG &amp; REASONING TRACK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1967954"/>
            <a:ext cx="2131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338CA"/>
                </a:solidFill>
                <a:latin typeface="Plus Jakarta Sans"/>
              </a:rPr>
              <a:t>HACKATHON SUBMISSION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1550" y="4953000"/>
            <a:ext cx="332016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THEME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5114925"/>
            <a:ext cx="33201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Theme ID 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3935" y="4953000"/>
            <a:ext cx="332016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TEAM 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3935" y="5114925"/>
            <a:ext cx="332016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Team Name -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6321" y="4953000"/>
            <a:ext cx="4955678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COLLEGE / INSTITUTE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6321" y="5114925"/>
            <a:ext cx="49556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College Name 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550" y="5648325"/>
            <a:ext cx="387343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TEAM MEMBERS &amp; EMAILS (1 &amp;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5810250"/>
            <a:ext cx="31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Member 1: Name &amp; Email - • Member 2: Name &amp; Email 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6550" y="5648325"/>
            <a:ext cx="387343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64748B"/>
                </a:solidFill>
                <a:latin typeface="Plus Jakarta Sans"/>
              </a:rPr>
              <a:t>TEAM MEMBERS &amp; EMAILS (3 &amp; 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6550" y="5810250"/>
            <a:ext cx="31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Member 3: Name &amp; Email - • Member 4: Name &amp; Email 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21550" y="5724525"/>
            <a:ext cx="387343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338CA"/>
                </a:solidFill>
                <a:latin typeface="Plus Jakarta Sans"/>
              </a:rPr>
              <a:t>SUBMISSION REPOSITORY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1550" y="5886450"/>
            <a:ext cx="3873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F46E5"/>
                </a:solidFill>
                <a:latin typeface="Plus Jakarta Sans"/>
              </a:rPr>
              <a:t>Submission Github link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5848350"/>
            <a:ext cx="11163300" cy="628650"/>
          </a:xfrm>
          <a:prstGeom prst="roundRect">
            <a:avLst>
              <a:gd name="adj" fmla="val 15151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" y="1457325"/>
            <a:ext cx="3594050" cy="420052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8900" y="1457325"/>
            <a:ext cx="3594050" cy="420052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3450" y="1457325"/>
            <a:ext cx="3594050" cy="420052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14350" y="5648325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4350" y="1457325"/>
            <a:ext cx="359405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4350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98875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2475" y="5019675"/>
            <a:ext cx="31178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8900" y="5648325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8900" y="1457325"/>
            <a:ext cx="35940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8900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83425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7025" y="5019675"/>
            <a:ext cx="31178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450" y="5648325"/>
            <a:ext cx="35940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450" y="1457325"/>
            <a:ext cx="35940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450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667976" y="1457325"/>
            <a:ext cx="9525" cy="4200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575" y="5019675"/>
            <a:ext cx="311780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6076950"/>
            <a:ext cx="17145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1762125"/>
            <a:ext cx="457200" cy="4572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7025" y="1762125"/>
            <a:ext cx="457200" cy="457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575" y="1762125"/>
            <a:ext cx="457200" cy="4572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012" y="1885950"/>
            <a:ext cx="238125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850" y="1885950"/>
            <a:ext cx="20955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CORE 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Theme: Adaptive Streaming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350" y="1019175"/>
            <a:ext cx="116776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Plus Jakarta Sans"/>
              </a:rPr>
              <a:t>A domain-agnostic retrieval orchestration engine demonstrated through Telecom / Internet Service Support.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175" y="5991225"/>
            <a:ext cx="10553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Domain Portability: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Telecom is the controlled demo environment — the underlying architecture generalizes to IT, banking, insurance, e-commerce, and other service domains.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1762125"/>
            <a:ext cx="3213050" cy="1743075"/>
          </a:xfrm>
          <a:prstGeom prst="rect">
            <a:avLst/>
          </a:prstGeom>
          <a:noFill/>
        </p:spPr>
        <p:txBody>
          <a:bodyPr wrap="square" lIns="4572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F46E5"/>
                </a:solidFill>
                <a:latin typeface="Plus Jakarta Sans"/>
              </a:rPr>
              <a:t>Pillar 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7025" y="1762125"/>
            <a:ext cx="3213050" cy="1743075"/>
          </a:xfrm>
          <a:prstGeom prst="rect">
            <a:avLst/>
          </a:prstGeom>
          <a:noFill/>
        </p:spPr>
        <p:txBody>
          <a:bodyPr wrap="square" lIns="4572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284C7"/>
                </a:solidFill>
                <a:latin typeface="Plus Jakarta Sans"/>
              </a:rPr>
              <a:t>Pillar 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575" y="1762125"/>
            <a:ext cx="3213050" cy="1971675"/>
          </a:xfrm>
          <a:prstGeom prst="rect">
            <a:avLst/>
          </a:prstGeom>
          <a:noFill/>
        </p:spPr>
        <p:txBody>
          <a:bodyPr wrap="square" lIns="45720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59669"/>
                </a:solidFill>
                <a:latin typeface="Plus Jakarta Sans"/>
              </a:rPr>
              <a:t>Pillar 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" y="2647950"/>
            <a:ext cx="409211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EVOLVING INTENT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3048000"/>
            <a:ext cx="321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Users reveal intent progressively and add constraints later in conversational streams.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5124450"/>
            <a:ext cx="354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Real-time delta 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7025" y="2647950"/>
            <a:ext cx="409211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ADAPTIVE RETRIEVAL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7025" y="3048000"/>
            <a:ext cx="32130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Decide when to wait, retrieve, refine, or suppress search during active speech.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00" y="5124450"/>
            <a:ext cx="354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Autonomous controller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575" y="2647950"/>
            <a:ext cx="387042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GROUNDED 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575" y="3048000"/>
            <a:ext cx="3213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Fuse evidence, preserve session state, and trace claims directly to verified corpus sources.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4450" y="5124450"/>
            <a:ext cx="354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Verifiable source citations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1171575"/>
            <a:ext cx="3863280" cy="5305425"/>
          </a:xfrm>
          <a:prstGeom prst="roundRect">
            <a:avLst>
              <a:gd name="adj" fmla="val 2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06230" y="1171575"/>
            <a:ext cx="7071419" cy="5305425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4375" y="2814637"/>
            <a:ext cx="346323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3595687"/>
            <a:ext cx="346323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4375" y="4376737"/>
            <a:ext cx="3463230" cy="4191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4375" y="5157787"/>
            <a:ext cx="3463230" cy="419100"/>
          </a:xfrm>
          <a:prstGeom prst="roundRect">
            <a:avLst>
              <a:gd name="adj" fmla="val 18181"/>
            </a:avLst>
          </a:prstGeom>
          <a:solidFill>
            <a:srgbClr val="F1F5F9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15550" y="1409700"/>
            <a:ext cx="1285875" cy="238125"/>
          </a:xfrm>
          <a:prstGeom prst="roundRect">
            <a:avLst>
              <a:gd name="adj" fmla="val 2400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82455" y="209550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82455" y="253365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82455" y="297180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82455" y="340995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82455" y="384810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82455" y="4286250"/>
            <a:ext cx="6518969" cy="342900"/>
          </a:xfrm>
          <a:prstGeom prst="roundRect">
            <a:avLst>
              <a:gd name="adj" fmla="val 22222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0970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95425"/>
            <a:ext cx="133350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602" y="3357562"/>
            <a:ext cx="10477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602" y="4138612"/>
            <a:ext cx="104775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602" y="4919662"/>
            <a:ext cx="104775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5330" y="2200275"/>
            <a:ext cx="13335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5330" y="2638425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5330" y="3076575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5330" y="3514725"/>
            <a:ext cx="13335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5330" y="3952875"/>
            <a:ext cx="152400" cy="1333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5330" y="4391025"/>
            <a:ext cx="133350" cy="1333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THE PROBLEM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Existing Solutions &amp;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1847850"/>
            <a:ext cx="43290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Assumes isolated, static, single-turn prompts: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52713" y="6096000"/>
            <a:ext cx="814871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900" i="0" u="none">
                <a:solidFill>
                  <a:srgbClr val="0F172A"/>
                </a:solidFill>
                <a:latin typeface="Plus Jakarta Sans"/>
              </a:rPr>
              <a:t>Real-world live dialogues require dynamic, state-aware intervention.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425" y="1447800"/>
            <a:ext cx="17627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Traditional 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455" y="1762125"/>
            <a:ext cx="730954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Plus Jakarta Sans"/>
              </a:rPr>
              <a:t>The information need is not static — it emerges over the stream.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064" y="2938462"/>
            <a:ext cx="3971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Complete query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0064" y="3719512"/>
            <a:ext cx="3971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Single 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0064" y="4500562"/>
            <a:ext cx="3971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Top-K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064" y="5281612"/>
            <a:ext cx="39718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Plus Jakarta Sans"/>
              </a:rPr>
              <a:t>LLM answer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455" y="1409700"/>
            <a:ext cx="29503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Live-Conversation Gaps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1447800"/>
            <a:ext cx="11906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91C1C"/>
                </a:solidFill>
                <a:latin typeface="Plus Jakarta Sans"/>
              </a:rPr>
              <a:t>Critical Bottlenecks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72980" y="2181225"/>
            <a:ext cx="52506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Incomplete intent: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retrieval may be premature or triggered too 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53930" y="2619375"/>
            <a:ext cx="5453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Multiple intents: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one continuous utterance can hide orthogonal needs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2980" y="3057525"/>
            <a:ext cx="5179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Late constraints: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earlier retrieved evidence quickly becomes stale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2980" y="3495675"/>
            <a:ext cx="6262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Repeated requests: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unnecessary retrieval calls add compounding latency &amp;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92030" y="3933825"/>
            <a:ext cx="5988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Formatting-only requests: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retrieval is completely redundant and not needed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2980" y="4371975"/>
            <a:ext cx="5500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Unsupported claims:</a:t>
            </a:r>
            <a:r>
              <a:rPr b="0" sz="1050" i="0" u="none">
                <a:solidFill>
                  <a:srgbClr val="1E293B"/>
                </a:solidFill>
                <a:latin typeface="Plus Jakarta Sans"/>
              </a:rPr>
              <a:t> weak grounding and lack of real-time traceability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1775" y="476250"/>
            <a:ext cx="5172075" cy="28575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150" y="2847975"/>
            <a:ext cx="11315700" cy="68580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8150" y="5962650"/>
            <a:ext cx="11315700" cy="628650"/>
          </a:xfrm>
          <a:prstGeom prst="roundRect">
            <a:avLst>
              <a:gd name="adj" fmla="val 12121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8150" y="895350"/>
            <a:ext cx="2066925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86075" y="895350"/>
            <a:ext cx="2066925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34000" y="895350"/>
            <a:ext cx="3524250" cy="1019175"/>
          </a:xfrm>
          <a:prstGeom prst="roundRect">
            <a:avLst>
              <a:gd name="adj" fmla="val 7476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9250" y="895350"/>
            <a:ext cx="2514600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90700" y="2943225"/>
            <a:ext cx="2153989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78064" y="2943225"/>
            <a:ext cx="2153989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5428" y="2943225"/>
            <a:ext cx="2348507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47311" y="2943225"/>
            <a:ext cx="2153989" cy="495300"/>
          </a:xfrm>
          <a:prstGeom prst="roundRect">
            <a:avLst>
              <a:gd name="adj" fmla="val 11538"/>
            </a:avLst>
          </a:prstGeom>
          <a:solidFill>
            <a:srgbClr val="EEF2FF"/>
          </a:solidFill>
          <a:ln w="952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50" y="4471987"/>
            <a:ext cx="1665237" cy="55245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36762" y="4471987"/>
            <a:ext cx="2051744" cy="552450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21882" y="4467225"/>
            <a:ext cx="2051744" cy="561975"/>
          </a:xfrm>
          <a:prstGeom prst="roundRect">
            <a:avLst>
              <a:gd name="adj" fmla="val 13559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07001" y="4471987"/>
            <a:ext cx="2180629" cy="552450"/>
          </a:xfrm>
          <a:prstGeom prst="roundRect">
            <a:avLst>
              <a:gd name="adj" fmla="val 13793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21006" y="4481512"/>
            <a:ext cx="2032694" cy="533400"/>
          </a:xfrm>
          <a:prstGeom prst="roundRect">
            <a:avLst>
              <a:gd name="adj" fmla="val 1428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81025" y="1181100"/>
            <a:ext cx="1781175" cy="381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028950" y="1362075"/>
            <a:ext cx="1781175" cy="44767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0075" y="6248400"/>
            <a:ext cx="267652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71850" y="6248400"/>
            <a:ext cx="267652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43625" y="6248400"/>
            <a:ext cx="267652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15400" y="6248400"/>
            <a:ext cx="2676525" cy="23812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1025" y="1619250"/>
            <a:ext cx="862012" cy="1905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00187" y="1619250"/>
            <a:ext cx="862012" cy="190500"/>
          </a:xfrm>
          <a:prstGeom prst="roundRect">
            <a:avLst>
              <a:gd name="adj" fmla="val 2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76875" y="1362075"/>
            <a:ext cx="766762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0787" y="1362075"/>
            <a:ext cx="766762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124700" y="1362075"/>
            <a:ext cx="766762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948612" y="1362075"/>
            <a:ext cx="766762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63075" y="1181100"/>
            <a:ext cx="730299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31474" y="1181100"/>
            <a:ext cx="730299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899874" y="1181100"/>
            <a:ext cx="730299" cy="20955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8989" y="3133725"/>
            <a:ext cx="104775" cy="1143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53" y="3133725"/>
            <a:ext cx="1047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8236" y="3133725"/>
            <a:ext cx="10477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687" y="4691062"/>
            <a:ext cx="104775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2807" y="4691062"/>
            <a:ext cx="104775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926" y="4691062"/>
            <a:ext cx="10477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1931" y="4691062"/>
            <a:ext cx="10477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8425" y="1338262"/>
            <a:ext cx="114300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6350" y="1338262"/>
            <a:ext cx="114300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1600" y="1338262"/>
            <a:ext cx="114300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5976" y="4686300"/>
            <a:ext cx="123825" cy="12382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1004887"/>
            <a:ext cx="104775" cy="1143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8950" y="1004887"/>
            <a:ext cx="104775" cy="1143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3075" y="1004887"/>
            <a:ext cx="142875" cy="1143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0075" y="6072187"/>
            <a:ext cx="114300" cy="1143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6875" y="1081087"/>
            <a:ext cx="123825" cy="12382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15125" y="533400"/>
            <a:ext cx="50006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Decides when to retrieve, what to retrieve, and when to refine or suppress retrieval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150" y="266700"/>
            <a:ext cx="4250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SYSTEM BLUEPRINT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150" y="447675"/>
            <a:ext cx="4463057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Our Solution &amp; Architecture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550" y="3128962"/>
            <a:ext cx="137160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75569"/>
                </a:solidFill>
                <a:latin typeface="Plus Jakarta Sans"/>
              </a:rPr>
              <a:t>EVIDENCE PIPELINE: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16701" y="3019425"/>
            <a:ext cx="250198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64748B"/>
                </a:solidFill>
                <a:latin typeface="Plus Jakarta Sans"/>
              </a:rPr>
              <a:t>Dense + BM25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04065" y="3019425"/>
            <a:ext cx="250198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64748B"/>
                </a:solidFill>
                <a:latin typeface="Plus Jakarta Sans"/>
              </a:rPr>
              <a:t>Rank Reciprocal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67115" y="3019425"/>
            <a:ext cx="274513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64748B"/>
                </a:solidFill>
                <a:latin typeface="Plus Jakarta Sans"/>
              </a:rPr>
              <a:t>Precision Re-score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73313" y="3019425"/>
            <a:ext cx="250198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" i="0" u="none">
                <a:solidFill>
                  <a:srgbClr val="6366F1"/>
                </a:solidFill>
                <a:latin typeface="Plus Jakarta Sans"/>
              </a:rPr>
              <a:t>Corpus Source Buffer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2450" y="4567237"/>
            <a:ext cx="153188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Plus Jakarta Sans"/>
              </a:rPr>
              <a:t>Evolving Context 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51062" y="4567237"/>
            <a:ext cx="1918394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Plus Jakarta Sans"/>
              </a:rPr>
              <a:t>Constraint Delta Trigger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21301" y="4567237"/>
            <a:ext cx="204727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047857"/>
                </a:solidFill>
                <a:latin typeface="Plus Jakarta Sans"/>
              </a:rPr>
              <a:t>Source claim tracing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35306" y="4576762"/>
            <a:ext cx="1899344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94A3B8"/>
                </a:solidFill>
                <a:latin typeface="Plus Jakarta Sans"/>
              </a:rPr>
              <a:t>• Uncertainty Score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5528" y="1238250"/>
            <a:ext cx="21121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475569"/>
                </a:solidFill>
                <a:latin typeface="Plus Jakarta Sans"/>
              </a:rPr>
              <a:t>Network | Account | Plans | Service | Devices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652420" y="3028950"/>
            <a:ext cx="24305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lus Jakarta Sans"/>
              </a:rPr>
              <a:t>Parallel Hybrid Retrieval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39784" y="3028950"/>
            <a:ext cx="24305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lus Jakarta Sans"/>
              </a:rPr>
              <a:t>RRF Evidence Fusion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02834" y="3028950"/>
            <a:ext cx="2673697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0F172A"/>
                </a:solidFill>
                <a:latin typeface="Plus Jakarta Sans"/>
              </a:rPr>
              <a:t>Cross-Encoder Reranker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09031" y="3028950"/>
            <a:ext cx="2430549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825" i="0" u="none">
                <a:solidFill>
                  <a:srgbClr val="4338CA"/>
                </a:solidFill>
                <a:latin typeface="Plus Jakarta Sans"/>
              </a:rPr>
              <a:t>EVIDENCE STORE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1975" y="4576762"/>
            <a:ext cx="177198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SESSION 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60587" y="4576762"/>
            <a:ext cx="2255118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Late-Detail Detector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45707" y="4572000"/>
            <a:ext cx="130492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B45309"/>
                </a:solidFill>
                <a:latin typeface="Plus Jakarta Sans"/>
              </a:rPr>
              <a:t>Refreshes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30826" y="4576762"/>
            <a:ext cx="2416224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065F46"/>
                </a:solidFill>
                <a:latin typeface="Plus Jakarta Sans"/>
              </a:rPr>
              <a:t>Grounded Answer Generator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35306" y="4576762"/>
            <a:ext cx="2255118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FFFFFF"/>
                </a:solidFill>
                <a:latin typeface="Plus Jakarta Sans"/>
              </a:rPr>
              <a:t>Answer + Citations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2175" y="6072187"/>
            <a:ext cx="2262187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750" i="0" u="none">
                <a:solidFill>
                  <a:srgbClr val="64748B"/>
                </a:solidFill>
                <a:latin typeface="Plus Jakarta Sans"/>
              </a:rPr>
              <a:t>Comprehensive Real-Time Observability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1709" y="6296025"/>
            <a:ext cx="319325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34155"/>
                </a:solidFill>
                <a:latin typeface="Plus Jakarta Sans"/>
              </a:rPr>
              <a:t>Decision traces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3484" y="6296025"/>
            <a:ext cx="319325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34155"/>
                </a:solidFill>
                <a:latin typeface="Plus Jakarta Sans"/>
              </a:rPr>
              <a:t>Retrieval quality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885259" y="6296025"/>
            <a:ext cx="319325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34155"/>
                </a:solidFill>
                <a:latin typeface="Plus Jakarta Sans"/>
              </a:rPr>
              <a:t>Latency &amp; cost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57034" y="6296025"/>
            <a:ext cx="319325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825" i="0" u="none">
                <a:solidFill>
                  <a:srgbClr val="334155"/>
                </a:solidFill>
                <a:latin typeface="Plus Jakarta Sans"/>
              </a:rPr>
              <a:t>Citation &amp; grounding checks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2950" y="1000125"/>
            <a:ext cx="1440656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KNOWLEDGE CORPUS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76250" y="1657350"/>
            <a:ext cx="10715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3730A3"/>
                </a:solidFill>
                <a:latin typeface="Plus Jakarta Sans"/>
              </a:rPr>
              <a:t>Dense Index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95412" y="1657350"/>
            <a:ext cx="1071562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3730A3"/>
                </a:solidFill>
                <a:latin typeface="Plus Jakarta Sans"/>
              </a:rPr>
              <a:t>BM25 Index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90875" y="1000125"/>
            <a:ext cx="1314450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CUSTOMER STREAM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33725" y="1447800"/>
            <a:ext cx="1964531" cy="114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64748B"/>
                </a:solidFill>
                <a:latin typeface="Plus Jakarta Sans"/>
              </a:rPr>
              <a:t>TRANSCRIPT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33725" y="1581150"/>
            <a:ext cx="19645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Plus Jakarta Sans"/>
              </a:rPr>
              <a:t>Streaming Transcript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77223" y="1028700"/>
            <a:ext cx="173340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750" i="0" u="none">
                <a:solidFill>
                  <a:srgbClr val="3B82F6"/>
                </a:solidFill>
                <a:latin typeface="Plus Jakarta Sans"/>
              </a:rPr>
              <a:t>When to retrieve • refine • suppress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34000" y="1400175"/>
            <a:ext cx="10525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1D4ED8"/>
                </a:solidFill>
                <a:latin typeface="Plus Jakarta Sans"/>
              </a:rPr>
              <a:t>WAIT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57912" y="1400175"/>
            <a:ext cx="10525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1D4ED8"/>
                </a:solidFill>
                <a:latin typeface="Plus Jakarta Sans"/>
              </a:rPr>
              <a:t>RETRIEVE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81825" y="1400175"/>
            <a:ext cx="10525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1D4ED8"/>
                </a:solidFill>
                <a:latin typeface="Plus Jakarta Sans"/>
              </a:rPr>
              <a:t>REFINE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05737" y="1400175"/>
            <a:ext cx="1052512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1D4ED8"/>
                </a:solidFill>
                <a:latin typeface="Plus Jakarta Sans"/>
              </a:rPr>
              <a:t>SUPPRESS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63100" y="1000125"/>
            <a:ext cx="1869281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MULTI-INTENT DECOMPOSER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20200" y="1219200"/>
            <a:ext cx="101604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475569"/>
                </a:solidFill>
                <a:latin typeface="Plus Jakarta Sans"/>
              </a:rPr>
              <a:t>Query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88599" y="1219200"/>
            <a:ext cx="101604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475569"/>
                </a:solidFill>
                <a:latin typeface="Plus Jakarta Sans"/>
              </a:rPr>
              <a:t>Query 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56999" y="1219200"/>
            <a:ext cx="101604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475569"/>
                </a:solidFill>
                <a:latin typeface="Plus Jakarta Sans"/>
              </a:rPr>
              <a:t>Query 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45707" y="4572000"/>
            <a:ext cx="1512093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Targeted Re-retrieval 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0575" y="6067425"/>
            <a:ext cx="2607468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1E293B"/>
                </a:solidFill>
                <a:latin typeface="Plus Jakarta Sans"/>
              </a:rPr>
              <a:t>TELEMETRY &amp; EVALUATION FOUNDATION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57850" y="1000125"/>
            <a:ext cx="151462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3A8A"/>
                </a:solidFill>
                <a:latin typeface="Plus Jakarta Sans"/>
              </a:rPr>
              <a:t>RETRIEVAL CONTROLLER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6076950"/>
            <a:ext cx="11163300" cy="400050"/>
          </a:xfrm>
          <a:prstGeom prst="roundRect">
            <a:avLst>
              <a:gd name="adj" fmla="val 190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" y="2076450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4350" y="2619375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4350" y="3162300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4350" y="3705225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4350" y="4248150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4350" y="4791075"/>
            <a:ext cx="111633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4350" y="3057525"/>
            <a:ext cx="11163300" cy="9525"/>
          </a:xfrm>
          <a:prstGeom prst="rect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4350" y="2619375"/>
            <a:ext cx="11163300" cy="9525"/>
          </a:xfrm>
          <a:prstGeom prst="rect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2619375"/>
            <a:ext cx="38100" cy="4476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68125" y="2619375"/>
            <a:ext cx="9525" cy="447675"/>
          </a:xfrm>
          <a:prstGeom prst="rect">
            <a:avLst/>
          </a:prstGeom>
          <a:solidFill>
            <a:srgbClr val="C7D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4350" y="4143375"/>
            <a:ext cx="11163300" cy="952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350" y="3705225"/>
            <a:ext cx="11163300" cy="952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4350" y="3705225"/>
            <a:ext cx="38100" cy="4476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68125" y="3705225"/>
            <a:ext cx="9525" cy="447675"/>
          </a:xfrm>
          <a:prstGeom prst="rect">
            <a:avLst/>
          </a:prstGeom>
          <a:solidFill>
            <a:srgbClr val="FDE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7325" y="2181225"/>
            <a:ext cx="542925" cy="238125"/>
          </a:xfrm>
          <a:prstGeom prst="roundRect">
            <a:avLst>
              <a:gd name="adj" fmla="val 24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86825" y="2724150"/>
            <a:ext cx="781050" cy="238125"/>
          </a:xfrm>
          <a:prstGeom prst="roundRect">
            <a:avLst>
              <a:gd name="adj" fmla="val 24000"/>
            </a:avLst>
          </a:prstGeom>
          <a:solidFill>
            <a:srgbClr val="EEF2FF"/>
          </a:solidFill>
          <a:ln w="9525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29650" y="3267075"/>
            <a:ext cx="1066800" cy="238125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10600" y="3810000"/>
            <a:ext cx="638175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62975" y="4352925"/>
            <a:ext cx="1485900" cy="238125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53425" y="4895850"/>
            <a:ext cx="857250" cy="238125"/>
          </a:xfrm>
          <a:prstGeom prst="roundRect">
            <a:avLst>
              <a:gd name="adj" fmla="val 24000"/>
            </a:avLst>
          </a:prstGeom>
          <a:solidFill>
            <a:srgbClr val="FEE2E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0" y="6200775"/>
            <a:ext cx="152400" cy="15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HERO SCENARIO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" y="581025"/>
            <a:ext cx="116776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Plus Jakarta Sans"/>
              </a:rPr>
              <a:t>Demo &amp; Product Walkthrough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" y="981075"/>
            <a:ext cx="1167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Hero scenario: the user's intent evolves during a live telecom support conversation.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6191250"/>
            <a:ext cx="8882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Result:</a:t>
            </a:r>
            <a:r>
              <a:rPr b="1" sz="1050" i="0" u="none">
                <a:solidFill>
                  <a:srgbClr val="F8FAFC"/>
                </a:solidFill>
                <a:latin typeface="Plus Jakarta Sans"/>
              </a:rPr>
              <a:t> one evolving session → targeted evidence updates → grounded answer versions with traceable citations.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325" y="2214562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0.0s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7300" y="2200275"/>
            <a:ext cx="96083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“My internet isn't working…”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900" y="2757487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F46E5"/>
                </a:solidFill>
                <a:latin typeface="Space Grotesk"/>
              </a:rPr>
              <a:t>0.8s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5875" y="2743200"/>
            <a:ext cx="933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“…router has a red LOS light.”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5325" y="3300412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1.6s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" y="3286125"/>
            <a:ext cx="9048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“My phone also can't connect…”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3900" y="3843337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Space Grotesk"/>
              </a:rPr>
              <a:t>2.4s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5875" y="3829050"/>
            <a:ext cx="8989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“Actually, mobile data works.”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25" y="4386262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3.0s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57300" y="4371975"/>
            <a:ext cx="8965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“Will I get outage compensation?”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325" y="4929187"/>
            <a:ext cx="71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Space Grotesk"/>
              </a:rPr>
              <a:t>3.5s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7300" y="4914900"/>
            <a:ext cx="8703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“Give me the answer in 3 bullets.”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1625" y="2219325"/>
            <a:ext cx="4095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WAIT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6450" y="2228850"/>
            <a:ext cx="225028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Incomplete intent; pauses 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1125" y="2762250"/>
            <a:ext cx="6477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338CA"/>
                </a:solidFill>
                <a:latin typeface="Plus Jakarta Sans"/>
              </a:rPr>
              <a:t>RETRIEVE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44075" y="2771775"/>
            <a:ext cx="21907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338CA"/>
                </a:solidFill>
                <a:latin typeface="Plus Jakarta Sans"/>
              </a:rPr>
              <a:t>Fiber physical break diagnostics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43950" y="3305175"/>
            <a:ext cx="933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MULTI-INTENT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72650" y="3314700"/>
            <a:ext cx="2155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Parallel sub-queries dispatched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24900" y="3848100"/>
            <a:ext cx="5048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REFINE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4975" y="3857625"/>
            <a:ext cx="27146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2400E"/>
                </a:solidFill>
                <a:latin typeface="Plus Jakarta Sans"/>
              </a:rPr>
              <a:t>Prunes cellular tower outage hypothesis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77275" y="4391025"/>
            <a:ext cx="1352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65F46"/>
                </a:solidFill>
                <a:latin typeface="Plus Jakarta Sans"/>
              </a:rPr>
              <a:t>TARGETED RETRIEVAL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25075" y="4400550"/>
            <a:ext cx="17145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SLA policy corpus lookup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725" y="4933950"/>
            <a:ext cx="7239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Plus Jakarta Sans"/>
              </a:rPr>
              <a:t>SUPPRESS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6875" y="4943475"/>
            <a:ext cx="27622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No new search; formats current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1447800"/>
            <a:ext cx="54864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1447800"/>
            <a:ext cx="54864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4350" y="4057650"/>
            <a:ext cx="54864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057650"/>
            <a:ext cx="5486400" cy="2419350"/>
          </a:xfrm>
          <a:prstGeom prst="roundRect">
            <a:avLst>
              <a:gd name="adj" fmla="val 47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3352800"/>
            <a:ext cx="5010150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29375" y="3352800"/>
            <a:ext cx="5010150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2475" y="5962650"/>
            <a:ext cx="5010150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29375" y="5962650"/>
            <a:ext cx="5010150" cy="276225"/>
          </a:xfrm>
          <a:prstGeom prst="roundRect">
            <a:avLst>
              <a:gd name="adj" fmla="val 2068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5" y="1685925"/>
            <a:ext cx="22860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975" y="168592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650" y="4295775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8550" y="4295775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Tools &amp; Tech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1019175"/>
            <a:ext cx="1167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Proposed prototype stack — selected for a reproducible, measurable streaming RAG implementation.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409950"/>
            <a:ext cx="487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Sub-millisecond WebSocket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675" y="3409950"/>
            <a:ext cx="487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Async event loop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6019800"/>
            <a:ext cx="487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Parallel hybrid retrieval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675" y="6019800"/>
            <a:ext cx="487680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75569"/>
                </a:solidFill>
                <a:latin typeface="Plus Jakarta Sans"/>
              </a:rPr>
              <a:t>100% full-session 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75" y="2028825"/>
            <a:ext cx="65758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475" y="2390775"/>
            <a:ext cx="626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React + Vite • WebSocket 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475" y="2647950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Real-time audio chunking, streaming simulation, and conversational telemetry UI.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2009775"/>
            <a:ext cx="5762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2371725"/>
            <a:ext cx="576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FastAPI • Streaming / session controllers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2628900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Asynchronous pipeline orchestration, stateful session routers, and low-latency dispatch.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475" y="4619625"/>
            <a:ext cx="657582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RETRIEVAL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4981575"/>
            <a:ext cx="626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FAISS / pgvector • BM25 • RRF • reranker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" y="5238750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Hybrid dense-sparse vector scoring, reciprocal rank fusion, and cross-encoder precision.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4619625"/>
            <a:ext cx="5762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DATA &amp; OBSERVABILITY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9375" y="4981575"/>
            <a:ext cx="5762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PostgreSQL • Sessions • events •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9375" y="5238750"/>
            <a:ext cx="5105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Relational event storage, comprehensive audit traces, and latency &amp; token usage telemetry.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1728787"/>
            <a:ext cx="8667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LAYER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1719262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LAYER 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" y="4329112"/>
            <a:ext cx="8858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59669"/>
                </a:solidFill>
                <a:latin typeface="Plus Jakarta Sans"/>
              </a:rPr>
              <a:t>LAYER 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4329112"/>
            <a:ext cx="8953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97706"/>
                </a:solidFill>
                <a:latin typeface="Plus Jakarta Sans"/>
              </a:rPr>
              <a:t>LAYER 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1409700"/>
            <a:ext cx="5013573" cy="5067300"/>
          </a:xfrm>
          <a:prstGeom prst="roundRect">
            <a:avLst>
              <a:gd name="adj" fmla="val 227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756523" y="1409700"/>
            <a:ext cx="5921126" cy="5067300"/>
          </a:xfrm>
          <a:prstGeom prst="roundRect">
            <a:avLst>
              <a:gd name="adj" fmla="val 225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2475" y="2324100"/>
            <a:ext cx="4537323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2475" y="2819400"/>
            <a:ext cx="4537323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2475" y="3314700"/>
            <a:ext cx="4537323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2475" y="3810000"/>
            <a:ext cx="4537323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2475" y="4305300"/>
            <a:ext cx="4537323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8875" y="1657350"/>
            <a:ext cx="1390650" cy="219075"/>
          </a:xfrm>
          <a:prstGeom prst="roundRect">
            <a:avLst>
              <a:gd name="adj" fmla="val 2608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94648" y="2324100"/>
            <a:ext cx="26748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4785" y="2324100"/>
            <a:ext cx="26748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94648" y="3067050"/>
            <a:ext cx="26748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64785" y="3067050"/>
            <a:ext cx="26748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94648" y="3810000"/>
            <a:ext cx="2674887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64785" y="3810000"/>
            <a:ext cx="2674887" cy="847725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681162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447925"/>
            <a:ext cx="114300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943225"/>
            <a:ext cx="114300" cy="1333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3438525"/>
            <a:ext cx="114300" cy="1333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3933825"/>
            <a:ext cx="114300" cy="1333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4429125"/>
            <a:ext cx="1143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648" y="1681162"/>
            <a:ext cx="19050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VALUE PROPOSITION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Impact &amp; Use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50" y="1000125"/>
            <a:ext cx="1167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Same controller + retrieval + session architecture underneath.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475" y="6096000"/>
            <a:ext cx="567165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Zero conversational disruption during progressive constraints.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94648" y="6096000"/>
            <a:ext cx="619735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0F172A"/>
                </a:solidFill>
                <a:latin typeface="Plus Jakarta Sans"/>
              </a:rPr>
              <a:t>Unified streaming orchestration across any proprietary corpus.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475" y="2019300"/>
            <a:ext cx="56716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Demonstrated on live Telecom / Internet Support scenarios: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94648" y="2019300"/>
            <a:ext cx="619735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Pluggable knowledge indices across diverse real-time workloads: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" y="1647825"/>
            <a:ext cx="298787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Immediate Demo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4125" y="1695450"/>
            <a:ext cx="12954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Plus Jakarta Sans"/>
              </a:rPr>
              <a:t>Domain-Independent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4900" y="242887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Lower avoidable retrieval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" y="2924175"/>
            <a:ext cx="28455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Handle compound / evolving intents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" y="3419475"/>
            <a:ext cx="2833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Preserve context without restarting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900" y="3914775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Suppress unnecessary searches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900" y="4410075"/>
            <a:ext cx="2512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Trace factual claims to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1348" y="1647825"/>
            <a:ext cx="251281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Enterprise Use Cases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7998" y="2438400"/>
            <a:ext cx="250343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Hardware, VPN, incident 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8135" y="2438400"/>
            <a:ext cx="250343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Card lock, transactions, dispute tracking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7998" y="3181350"/>
            <a:ext cx="250343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Policy coverage, FNOL claims routing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98135" y="3181350"/>
            <a:ext cx="2503437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Returns, delivery disputes, item specs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7998" y="3924300"/>
            <a:ext cx="250343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Flight rescheduling, baggage policies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8135" y="3924300"/>
            <a:ext cx="2503437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4748B"/>
                </a:solidFill>
                <a:latin typeface="Plus Jakarta Sans"/>
              </a:rPr>
              <a:t>Equipment schematics, real-time manual lookups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7523" y="244792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IT Helpdesk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07660" y="244792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Banking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37523" y="319087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Insurance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07660" y="319087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E-commerce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37523" y="393382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Travel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07660" y="3933825"/>
            <a:ext cx="298642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Field Service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1152525"/>
            <a:ext cx="3594050" cy="53244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98900" y="1152525"/>
            <a:ext cx="3594050" cy="53244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83450" y="1152525"/>
            <a:ext cx="3594050" cy="53244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4375" y="5981700"/>
            <a:ext cx="3194000" cy="276225"/>
          </a:xfrm>
          <a:prstGeom prst="roundRect">
            <a:avLst>
              <a:gd name="adj" fmla="val 20689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83475" y="6019800"/>
            <a:ext cx="3194000" cy="238125"/>
          </a:xfrm>
          <a:prstGeom prst="roundRect">
            <a:avLst>
              <a:gd name="adj" fmla="val 2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98925" y="1704975"/>
            <a:ext cx="31940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98925" y="2228850"/>
            <a:ext cx="31940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98925" y="2752725"/>
            <a:ext cx="31940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8925" y="3276600"/>
            <a:ext cx="31940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3475" y="1704975"/>
            <a:ext cx="319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83475" y="2238375"/>
            <a:ext cx="319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3475" y="2771775"/>
            <a:ext cx="319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3475" y="3305175"/>
            <a:ext cx="31940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404937"/>
            <a:ext cx="1143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25" y="1404937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3475" y="1404937"/>
            <a:ext cx="15240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EVALUATION &amp;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Innovation Highlights, Targets &amp; 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925" y="5985569"/>
            <a:ext cx="3289250" cy="2723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b="0" sz="825" i="0" u="none">
                <a:solidFill>
                  <a:srgbClr val="64748B"/>
                </a:solidFill>
                <a:latin typeface="Plus Jakarta Sans"/>
              </a:rPr>
              <a:t>Targets are challenge requirements — no experimental result is claimed until measured.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6057900"/>
            <a:ext cx="37543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4338CA"/>
                </a:solidFill>
                <a:latin typeface="Plus Jakarta Sans"/>
              </a:rPr>
              <a:t>Continuous stream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725" y="6076950"/>
            <a:ext cx="3754375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92400E"/>
                </a:solidFill>
                <a:latin typeface="Plus Jakarta Sans"/>
              </a:rPr>
              <a:t>Controlled mitigation strategies designed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875" y="1371600"/>
            <a:ext cx="23127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Innovation highlights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375" y="1704975"/>
            <a:ext cx="399250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Retrieval timing: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first-class decision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375" y="1954410"/>
            <a:ext cx="399250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Early retrieval: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triggers before utterance 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375" y="2203846"/>
            <a:ext cx="399250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Multi-intent: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parallel decomposed evidence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75" y="2453282"/>
            <a:ext cx="399250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Late-detail: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targeted refinement instead of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4375" y="2702718"/>
            <a:ext cx="32892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Suppression: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formatting/chitchat suppresses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4375" y="3125390"/>
            <a:ext cx="3992500" cy="1732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b="1" sz="975" i="0" u="none">
                <a:solidFill>
                  <a:srgbClr val="334155"/>
                </a:solidFill>
                <a:latin typeface="Plus Jakarta Sans"/>
              </a:rPr>
              <a:t>Full telemetry:</a:t>
            </a:r>
            <a:r>
              <a:rPr b="0" sz="975" i="0" u="none">
                <a:solidFill>
                  <a:srgbClr val="334155"/>
                </a:solidFill>
                <a:latin typeface="Plus Jakarta Sans"/>
              </a:rPr>
              <a:t> uncertainty scoring &amp; claim tracing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6575" y="1371600"/>
            <a:ext cx="19502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Challenge targets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12075" y="1371600"/>
            <a:ext cx="23127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Key limitations / risks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1800" y="1843087"/>
            <a:ext cx="1095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Early retrieval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7011" y="1809750"/>
            <a:ext cx="7887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≥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1800" y="2366962"/>
            <a:ext cx="1619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Multi-intent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6536" y="2333625"/>
            <a:ext cx="7792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Space Grotesk"/>
              </a:rPr>
              <a:t>≥ 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1800" y="2890837"/>
            <a:ext cx="12668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Citation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6536" y="2857500"/>
            <a:ext cx="77926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≥ 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1800" y="3414712"/>
            <a:ext cx="1381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Plus Jakarta Sans"/>
              </a:rPr>
              <a:t>Telemetry capture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1900" y="3381375"/>
            <a:ext cx="7239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366F1"/>
                </a:solidFill>
                <a:latin typeface="Space Grotesk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8250" y="1790700"/>
            <a:ext cx="3730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Corpus isolation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8250" y="1952625"/>
            <a:ext cx="37305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"/>
              </a:rPr>
              <a:t>Strict adherence limits open-world extrapolation.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8250" y="2324100"/>
            <a:ext cx="3730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Noisy streams &amp; ASR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8250" y="2486025"/>
            <a:ext cx="37305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"/>
              </a:rPr>
              <a:t>Partial speech tokens can trigger premature retrieval.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8250" y="2857500"/>
            <a:ext cx="3730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Latency / cost tradeoff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8250" y="3019425"/>
            <a:ext cx="37305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"/>
              </a:rPr>
              <a:t>Multi-intent parallel queries incur higher compute.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8250" y="3390900"/>
            <a:ext cx="37305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Contradictory / stale 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8250" y="3552825"/>
            <a:ext cx="3730562" cy="123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475569"/>
                </a:solidFill>
                <a:latin typeface="Plus Jakarta Sans"/>
              </a:rPr>
              <a:t>Requires rapid session cache invalidation.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6010275"/>
            <a:ext cx="1116330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93900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73450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3001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32551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12101" y="1190625"/>
            <a:ext cx="1765250" cy="4629150"/>
          </a:xfrm>
          <a:prstGeom prst="roundRect">
            <a:avLst>
              <a:gd name="adj" fmla="val 53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4350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4350" y="1190625"/>
            <a:ext cx="1765250" cy="381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4350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70075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7225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93900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93900" y="1190625"/>
            <a:ext cx="176525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93900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49625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36775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3450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73450" y="1190625"/>
            <a:ext cx="1765250" cy="381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3450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29176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16325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3001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3001" y="1190625"/>
            <a:ext cx="176525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53001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8726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95876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2551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2551" y="1190625"/>
            <a:ext cx="17652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32551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88276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75426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12101" y="5810250"/>
            <a:ext cx="17652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12101" y="1190625"/>
            <a:ext cx="176525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12101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667827" y="1190625"/>
            <a:ext cx="9525" cy="46291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54976" y="5448300"/>
            <a:ext cx="147950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7225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536775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416325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95876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75426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54976" y="140017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6157912"/>
            <a:ext cx="171450" cy="1714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EXECUTION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What's Next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0125" y="6153150"/>
            <a:ext cx="9655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Plus Jakarta Sans"/>
              </a:rPr>
              <a:t>Architectural Principle:</a:t>
            </a:r>
            <a:r>
              <a:rPr b="1" sz="1125" i="0" u="none">
                <a:solidFill>
                  <a:srgbClr val="1E293B"/>
                </a:solidFill>
                <a:latin typeface="Plus Jakarta Sans"/>
              </a:rPr>
              <a:t> Build the retrieval engine first; make voice/ASR a presentation layer, not the foundation.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9437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4F46E5"/>
                </a:solidFill>
                <a:latin typeface="Plus Jakarta Sans"/>
              </a:rPr>
              <a:t>PHASE 01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08987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0284C7"/>
                </a:solidFill>
                <a:latin typeface="Plus Jakarta Sans"/>
              </a:rPr>
              <a:t>PHASE 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88538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4338CA"/>
                </a:solidFill>
                <a:latin typeface="Plus Jakarta Sans"/>
              </a:rPr>
              <a:t>PHASE 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68088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B45309"/>
                </a:solidFill>
                <a:latin typeface="Plus Jakarta Sans"/>
              </a:rPr>
              <a:t>PHASE 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7639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047857"/>
                </a:solidFill>
                <a:latin typeface="Plus Jakarta Sans"/>
              </a:rPr>
              <a:t>PHASE 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7189" y="5486400"/>
            <a:ext cx="1735075" cy="114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750" i="0" u="none">
                <a:solidFill>
                  <a:srgbClr val="0F172A"/>
                </a:solidFill>
                <a:latin typeface="Plus Jakarta Sans"/>
              </a:rPr>
              <a:t>PHASE 06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4350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225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Foundation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7225" y="2085975"/>
            <a:ext cx="15747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Corpus • indexing • baseline RAG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93900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36775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Controller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36775" y="2085975"/>
            <a:ext cx="15747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Streaming simulator • WAIT / RETRIEVE / SUPPRESS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3450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16325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Multi-Intent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16325" y="2085975"/>
            <a:ext cx="15747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Decomposition • parallel retrieval • RRF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53001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95876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Refinement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5876" y="2085975"/>
            <a:ext cx="15747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Session state • delta detection • answer versions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32551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75426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Evaluation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75426" y="2085975"/>
            <a:ext cx="1574750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Telemetry • benchmark • 3 ablations • packaging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12101" y="1400175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4976" y="1800225"/>
            <a:ext cx="194184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Demo Layer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4976" y="2085975"/>
            <a:ext cx="1574750" cy="519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React dashboard • scripted scenarios • optional ASR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1390650"/>
            <a:ext cx="11163300" cy="4591050"/>
          </a:xfrm>
          <a:prstGeom prst="roundRect">
            <a:avLst>
              <a:gd name="adj" fmla="val 248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" y="6115050"/>
            <a:ext cx="11163300" cy="361950"/>
          </a:xfrm>
          <a:prstGeom prst="roundRect">
            <a:avLst>
              <a:gd name="adj" fmla="val 210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886200"/>
            <a:ext cx="1047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514600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971800"/>
            <a:ext cx="1047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97180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514600"/>
            <a:ext cx="1047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388620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429000"/>
            <a:ext cx="10477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057400"/>
            <a:ext cx="104775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3429000"/>
            <a:ext cx="123825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057400"/>
            <a:ext cx="123825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057400"/>
            <a:ext cx="10477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057400"/>
            <a:ext cx="1238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514600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514600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971800"/>
            <a:ext cx="1047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2971800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429000"/>
            <a:ext cx="1047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3429000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886200"/>
            <a:ext cx="1047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387" y="3886200"/>
            <a:ext cx="123825" cy="142875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23875" y="1400175"/>
          <a:ext cx="11144249" cy="27717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014912"/>
                <a:gridCol w="6129337"/>
              </a:tblGrid>
              <a:tr h="461962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NORMAL RAG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4F46E5"/>
                          </a:solidFill>
                          <a:latin typeface="Plus Jakarta Sans"/>
                        </a:rPr>
                        <a:t>ADAPTIVE STREAMING RAG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2FF"/>
                    </a:solidFill>
                  </a:tcPr>
                </a:tc>
              </a:tr>
              <a:tr h="46196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Wait for complete query</a:t>
                      </a:r>
                    </a:p>
                  </a:txBody>
                  <a:tcPr anchor="ctr" marL="3143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Stream-aware retrieval timing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CFE"/>
                    </a:solidFill>
                  </a:tcPr>
                </a:tc>
              </a:tr>
              <a:tr h="46196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Retrieve once</a:t>
                      </a:r>
                    </a:p>
                  </a:txBody>
                  <a:tcPr anchor="ctr" marL="3143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Multi-intent parallel search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CFE"/>
                    </a:solidFill>
                  </a:tcPr>
                </a:tc>
              </a:tr>
              <a:tr h="46196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Static evidence</a:t>
                      </a:r>
                    </a:p>
                  </a:txBody>
                  <a:tcPr anchor="ctr" marL="3143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Evidence fusion + reranking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CFE"/>
                    </a:solidFill>
                  </a:tcPr>
                </a:tc>
              </a:tr>
              <a:tr h="461962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Generate answer</a:t>
                      </a:r>
                    </a:p>
                  </a:txBody>
                  <a:tcPr anchor="ctr" marL="3143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Session-aware targeted refinement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CFE"/>
                    </a:solidFill>
                  </a:tcPr>
                </a:tc>
              </a:tr>
              <a:tr h="461965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Limited traceability</a:t>
                      </a:r>
                    </a:p>
                  </a:txBody>
                  <a:tcPr anchor="ctr" marL="31432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Suppression + grounded citations + telemetry</a:t>
                      </a:r>
                    </a:p>
                  </a:txBody>
                  <a:tcPr anchor="ctr" marL="3333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CFE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COMPETITIVE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Differentiates 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350" y="1000125"/>
            <a:ext cx="1167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Our differentiation is the orchestration of these capabilities under strict grounding, state, and observability requirements.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327421" y="6219825"/>
            <a:ext cx="12846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475569"/>
                </a:solidFill>
                <a:latin typeface="Plus Jakarta Sans"/>
              </a:rPr>
              <a:t>Proven design pattern engineered specifically for high-velocity streaming conversational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4350" y="6076950"/>
            <a:ext cx="11163300" cy="400050"/>
          </a:xfrm>
          <a:prstGeom prst="roundRect">
            <a:avLst>
              <a:gd name="adj" fmla="val 19047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4350" y="1957387"/>
            <a:ext cx="111633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4350" y="2671762"/>
            <a:ext cx="111633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4350" y="3386137"/>
            <a:ext cx="111633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4350" y="4100512"/>
            <a:ext cx="11163300" cy="600075"/>
          </a:xfrm>
          <a:prstGeom prst="roundRect">
            <a:avLst>
              <a:gd name="adj" fmla="val 1587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4350" y="4814887"/>
            <a:ext cx="11163300" cy="600075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63212" y="2119312"/>
            <a:ext cx="976312" cy="276225"/>
          </a:xfrm>
          <a:prstGeom prst="roundRect">
            <a:avLst>
              <a:gd name="adj" fmla="val 2068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63212" y="2833687"/>
            <a:ext cx="976312" cy="276225"/>
          </a:xfrm>
          <a:prstGeom prst="roundRect">
            <a:avLst>
              <a:gd name="adj" fmla="val 2068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463212" y="3548062"/>
            <a:ext cx="976312" cy="276225"/>
          </a:xfrm>
          <a:prstGeom prst="roundRect">
            <a:avLst>
              <a:gd name="adj" fmla="val 2068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3212" y="4262437"/>
            <a:ext cx="976312" cy="276225"/>
          </a:xfrm>
          <a:prstGeom prst="roundRect">
            <a:avLst>
              <a:gd name="adj" fmla="val 2068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39437" y="4976812"/>
            <a:ext cx="700087" cy="276225"/>
          </a:xfrm>
          <a:prstGeom prst="roundRect">
            <a:avLst>
              <a:gd name="adj" fmla="val 20689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6219825"/>
            <a:ext cx="12382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" y="2162175"/>
            <a:ext cx="1809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288607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600450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4314825"/>
            <a:ext cx="1905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5029200"/>
            <a:ext cx="1333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4350" y="381000"/>
            <a:ext cx="116776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SUBMISSION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" y="581025"/>
            <a:ext cx="1167765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Submission Checklist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350" y="1000125"/>
            <a:ext cx="11677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Before submission: replace all TO UPDATE fields with verified links/statuses.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6200775"/>
            <a:ext cx="11496675" cy="15240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2400E"/>
                </a:solidFill>
                <a:latin typeface="Plus Jakarta Sans"/>
              </a:rPr>
              <a:t>Ensure all code is cleanly licensed, test suites pass, and API rate limits are documented prior to final lock.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6562" y="2176462"/>
            <a:ext cx="8048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TO UPDATE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96562" y="2890837"/>
            <a:ext cx="8048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TO 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96562" y="3605212"/>
            <a:ext cx="8048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TO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96562" y="4319587"/>
            <a:ext cx="804862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B45309"/>
                </a:solidFill>
                <a:latin typeface="Plus Jakarta Sans"/>
              </a:rPr>
              <a:t>TO UPDATE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72787" y="5033962"/>
            <a:ext cx="528637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65F46"/>
                </a:solidFill>
                <a:latin typeface="Plus Jakarta Sans"/>
              </a:rPr>
              <a:t>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2157412"/>
            <a:ext cx="2095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Public GitHub updated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4900" y="2871787"/>
            <a:ext cx="4286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Working prototype code — public/shared repo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586162"/>
            <a:ext cx="3036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README with reproducible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6325" y="4300537"/>
            <a:ext cx="2678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Demo video — max 5 minutes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175" y="5014912"/>
            <a:ext cx="257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Plus Jakarta Sans"/>
              </a:rPr>
              <a:t>Presentation file — PPT/PDF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2450" y="5905500"/>
            <a:ext cx="11087100" cy="533400"/>
          </a:xfrm>
          <a:prstGeom prst="roundRect">
            <a:avLst>
              <a:gd name="adj" fmla="val 2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77475" y="433387"/>
            <a:ext cx="1362075" cy="228600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67400" y="401955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2450" y="419100"/>
            <a:ext cx="1343025" cy="257175"/>
          </a:xfrm>
          <a:prstGeom prst="roundRect">
            <a:avLst>
              <a:gd name="adj" fmla="val 2222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124075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25" y="2276475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" y="6086475"/>
            <a:ext cx="17145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72725" y="471487"/>
            <a:ext cx="12668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FINAL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0179" y="2809875"/>
            <a:ext cx="3131641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7031" y="3590925"/>
            <a:ext cx="63579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34155"/>
                </a:solidFill>
                <a:latin typeface="Plus Jakarta Sans"/>
              </a:rPr>
              <a:t>Adaptive Streaming RAG for Live Service Conversations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238625"/>
            <a:ext cx="7620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Organised by the Language AI Team and the PRISM Team, Samsung R&amp;D Institute India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91425" y="6096000"/>
            <a:ext cx="46005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475569"/>
                </a:solidFill>
                <a:latin typeface="Plus Jakarta Sans"/>
              </a:rPr>
              <a:t>Samsung PRISM Generative AI Hackathon • 3rd Edition 2026–27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76250"/>
            <a:ext cx="1209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Plus Jakarta Sans"/>
              </a:rPr>
              <a:t>SAMSUNG PRISM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9775" y="461962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Generative AI Hackathon • 3rd Edition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6086475"/>
            <a:ext cx="27027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293B"/>
                </a:solidFill>
                <a:latin typeface="Plus Jakarta Sans"/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